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62" r:id="rId3"/>
    <p:sldId id="269" r:id="rId4"/>
    <p:sldId id="267" r:id="rId5"/>
    <p:sldId id="258" r:id="rId6"/>
    <p:sldId id="259" r:id="rId7"/>
    <p:sldId id="268" r:id="rId8"/>
    <p:sldId id="260" r:id="rId9"/>
    <p:sldId id="261" r:id="rId10"/>
    <p:sldId id="270" r:id="rId11"/>
    <p:sldId id="271" r:id="rId12"/>
    <p:sldId id="272" r:id="rId13"/>
    <p:sldId id="273" r:id="rId14"/>
    <p:sldId id="274" r:id="rId15"/>
    <p:sldId id="275" r:id="rId16"/>
    <p:sldId id="264" r:id="rId17"/>
    <p:sldId id="276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3137" autoAdjust="0"/>
  </p:normalViewPr>
  <p:slideViewPr>
    <p:cSldViewPr snapToGrid="0">
      <p:cViewPr varScale="1">
        <p:scale>
          <a:sx n="68" d="100"/>
          <a:sy n="68" d="100"/>
        </p:scale>
        <p:origin x="12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63503-BC98-4576-AAA0-4ED2B62CB37F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E33DB-1271-41E7-A265-E1E1DFEF3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8476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Maggiore portata ed energia delle onde emesse:</a:t>
            </a:r>
          </a:p>
          <a:p>
            <a:pPr lvl="0" rtl="0"/>
            <a:r>
              <a:rPr lang="it-IT" dirty="0"/>
              <a:t>- Con due sfere piene di circa 4 cm di diametro, il segnale elettromagnetico emesso dall’oscillatore era abbastanza potente da far scattare le scintille nel risonatore fino a 11 metri di distanza.</a:t>
            </a:r>
          </a:p>
          <a:p>
            <a:pPr lvl="0" rtl="0"/>
            <a:r>
              <a:rPr lang="it-IT" dirty="0"/>
              <a:t>- Sostituendole con due sfere cave dello stesso diametro esterno (con pareti spesse 0,15 cm), l’effetto sul risonatore svaniva già a soli 6 metri.</a:t>
            </a:r>
          </a:p>
          <a:p>
            <a:pPr lvl="0" rtl="0"/>
            <a:r>
              <a:rPr lang="it-IT" dirty="0"/>
              <a:t>- Utilizzando sfere cave con pareti ancora più sottili, l’intensità della radiazione si riduceva ulteriormente. (pagina 31 del .pdf)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3372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Pag. 41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7261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Lunghezza del risonatore</a:t>
            </a:r>
            <a:r>
              <a:rPr lang="it-IT" dirty="0"/>
              <a:t>: indica la lunghezza orizzontale della striscia d'argento (espressa in centimetri: ad esempio 0.9 cm, 3.6 cm o 10 cm).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Questa dimensione è il fattore principale che determina la frequenza di risonanza dello strumento e corrisponde indicativamente a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metà della lunghezza d'onda (lambda/2).</a:t>
            </a:r>
            <a:b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Larghezza del risonatore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indica la larghezza della listerella di vetro/argento tagliata dalla lastra (espressa in centimetri: ad esempio 0,1 cm, 0,2 cm o 0,6 cm). </a:t>
            </a:r>
            <a:b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Righi spiega che la larghezza agisce in modo analogo alla sezione di un tubo sonoro: mantenendo costante la lunghezza, all'aumentare della larghezza aumenta leggermente la lunghezza d'onda dell'oscillazione.</a:t>
            </a:r>
            <a:b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Pag. 45 del .pdf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2414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it-IT" b="1" dirty="0"/>
              <a:t>Parte 2 – </a:t>
            </a:r>
            <a:r>
              <a:rPr lang="it-IT" b="0" dirty="0"/>
              <a:t>pag. 90 del .pdf</a:t>
            </a:r>
            <a:endParaRPr lang="it-IT" b="1" dirty="0"/>
          </a:p>
          <a:p>
            <a:endParaRPr lang="it-IT" dirty="0"/>
          </a:p>
          <a:p>
            <a:r>
              <a:rPr lang="it-IT" dirty="0" err="1"/>
              <a:t>Pag</a:t>
            </a:r>
            <a:r>
              <a:rPr lang="it-IT" dirty="0"/>
              <a:t> 92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0232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Pag. 114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9134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pag</a:t>
            </a:r>
            <a:r>
              <a:rPr lang="it-IT" dirty="0"/>
              <a:t> 120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2921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Pag</a:t>
            </a:r>
            <a:r>
              <a:rPr lang="it-IT" dirty="0"/>
              <a:t> 137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7071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Pag</a:t>
            </a:r>
            <a:r>
              <a:rPr lang="it-IT" dirty="0"/>
              <a:t> 148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7060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Pag</a:t>
            </a:r>
            <a:r>
              <a:rPr lang="it-IT" dirty="0"/>
              <a:t> 170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549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Pag</a:t>
            </a:r>
            <a:r>
              <a:rPr lang="it-IT" dirty="0"/>
              <a:t> 185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8015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Pag. 214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4022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pag. 234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824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Pag. 237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5547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Pag. 242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7323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Pag. 255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4837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Pag. 260 del .pdf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E33DB-1271-41E7-A265-E1E1DFEF3771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230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EF8146-87EF-77A1-6401-1D2CF520F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L’ottica delle oscillazioni elettriche</a:t>
            </a:r>
          </a:p>
        </p:txBody>
      </p:sp>
    </p:spTree>
    <p:extLst>
      <p:ext uri="{BB962C8B-B14F-4D97-AF65-F5344CB8AC3E}">
        <p14:creationId xmlns:p14="http://schemas.microsoft.com/office/powerpoint/2010/main" val="91614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DCE5C-D49A-C708-300A-9F208C89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634BBB-2521-2C9A-7CF8-BBAD71908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613668"/>
          </a:xfrm>
        </p:spPr>
        <p:txBody>
          <a:bodyPr>
            <a:normAutofit/>
          </a:bodyPr>
          <a:lstStyle/>
          <a:p>
            <a:r>
              <a:rPr lang="it-IT" dirty="0"/>
              <a:t>Parte 1:  descrizione degli apparecchi, come costruirli, come utilizzarli e che cosa fanno</a:t>
            </a:r>
          </a:p>
          <a:p>
            <a:r>
              <a:rPr lang="it-IT" dirty="0"/>
              <a:t>Parte 2: 7 capitoli:</a:t>
            </a:r>
            <a:br>
              <a:rPr lang="it-IT" dirty="0"/>
            </a:br>
            <a:r>
              <a:rPr lang="it-IT" dirty="0"/>
              <a:t>	1. </a:t>
            </a:r>
            <a:r>
              <a:rPr lang="it-IT" b="1" dirty="0"/>
              <a:t>Capitolo I</a:t>
            </a:r>
            <a:r>
              <a:rPr lang="it-IT" dirty="0"/>
              <a:t> – Fenomeni d'interferenza</a:t>
            </a:r>
            <a:br>
              <a:rPr lang="it-IT" dirty="0"/>
            </a:br>
            <a:r>
              <a:rPr lang="it-IT" dirty="0"/>
              <a:t>	2. </a:t>
            </a:r>
            <a:r>
              <a:rPr lang="it-IT" b="1" dirty="0"/>
              <a:t>Capitolo II</a:t>
            </a:r>
            <a:r>
              <a:rPr lang="it-IT" dirty="0"/>
              <a:t> – Interferenze colle lamine sottili</a:t>
            </a:r>
            <a:br>
              <a:rPr lang="it-IT" dirty="0"/>
            </a:br>
            <a:r>
              <a:rPr lang="it-IT" dirty="0"/>
              <a:t>	3. </a:t>
            </a:r>
            <a:r>
              <a:rPr lang="it-IT" b="1" dirty="0"/>
              <a:t>Capitolo III</a:t>
            </a:r>
            <a:r>
              <a:rPr lang="it-IT" dirty="0"/>
              <a:t> – Fenomeni di diffrazione</a:t>
            </a:r>
            <a:br>
              <a:rPr lang="it-IT" dirty="0"/>
            </a:br>
            <a:r>
              <a:rPr lang="it-IT" dirty="0"/>
              <a:t>	4. </a:t>
            </a:r>
            <a:r>
              <a:rPr lang="it-IT" b="1" dirty="0"/>
              <a:t>Capitolo IV</a:t>
            </a:r>
            <a:r>
              <a:rPr lang="it-IT" dirty="0"/>
              <a:t> – Trasparenza ed opacità</a:t>
            </a:r>
            <a:br>
              <a:rPr lang="it-IT" dirty="0"/>
            </a:br>
            <a:r>
              <a:rPr lang="it-IT" dirty="0"/>
              <a:t>	5. </a:t>
            </a:r>
            <a:r>
              <a:rPr lang="it-IT" b="1" dirty="0"/>
              <a:t>Capitolo V</a:t>
            </a:r>
            <a:r>
              <a:rPr lang="it-IT" dirty="0"/>
              <a:t> – Riflessione sui dielettrici e sui conduttori</a:t>
            </a:r>
            <a:br>
              <a:rPr lang="it-IT" dirty="0"/>
            </a:br>
            <a:r>
              <a:rPr lang="it-IT" dirty="0"/>
              <a:t>	6. </a:t>
            </a:r>
            <a:r>
              <a:rPr lang="it-IT" b="1" dirty="0"/>
              <a:t>Capitolo VI</a:t>
            </a:r>
            <a:r>
              <a:rPr lang="it-IT" dirty="0"/>
              <a:t> – Rifrazione e riflessione totale</a:t>
            </a:r>
            <a:br>
              <a:rPr lang="it-IT" dirty="0"/>
            </a:br>
            <a:r>
              <a:rPr lang="it-IT" dirty="0"/>
              <a:t>	7. </a:t>
            </a:r>
            <a:r>
              <a:rPr lang="it-IT" b="1" dirty="0"/>
              <a:t>Capitolo VII</a:t>
            </a:r>
            <a:r>
              <a:rPr lang="it-IT" dirty="0"/>
              <a:t> – Doppia rifrazione</a:t>
            </a:r>
          </a:p>
        </p:txBody>
      </p:sp>
    </p:spTree>
    <p:extLst>
      <p:ext uri="{BB962C8B-B14F-4D97-AF65-F5344CB8AC3E}">
        <p14:creationId xmlns:p14="http://schemas.microsoft.com/office/powerpoint/2010/main" val="31265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3458E-5C74-76B7-5FE9-66C57AAD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9014B9-1F7F-2F85-1248-57D1688A1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3201D7-41E5-5002-0CA1-B300FC90A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/>
          </a:bodyPr>
          <a:lstStyle/>
          <a:p>
            <a:pPr lvl="0"/>
            <a:r>
              <a:rPr lang="it-IT" b="1" dirty="0"/>
              <a:t>Nota A</a:t>
            </a:r>
            <a:r>
              <a:rPr lang="it-IT" dirty="0"/>
              <a:t>: </a:t>
            </a:r>
            <a:r>
              <a:rPr lang="it-IT" i="1" dirty="0"/>
              <a:t>Sulle onde elettro-magnetiche generate da un piccolo oscillatore, e su quelle prodotte da due piccole oscillazioni elettriche ortogonali, oppure per mezzo di una rotazione uniforme</a:t>
            </a:r>
            <a:endParaRPr lang="it-IT" dirty="0"/>
          </a:p>
          <a:p>
            <a:pPr lvl="0"/>
            <a:r>
              <a:rPr lang="it-IT" b="1" dirty="0"/>
              <a:t>Nota B</a:t>
            </a:r>
            <a:r>
              <a:rPr lang="it-IT" dirty="0"/>
              <a:t>: </a:t>
            </a:r>
            <a:r>
              <a:rPr lang="it-IT" i="1" dirty="0"/>
              <a:t>Forza elettrica dovuta ad una sfera dielettrica posta in un campo uniforme</a:t>
            </a:r>
            <a:endParaRPr lang="it-IT" dirty="0"/>
          </a:p>
          <a:p>
            <a:pPr lvl="0"/>
            <a:r>
              <a:rPr lang="it-IT" b="1" dirty="0"/>
              <a:t>Nota C</a:t>
            </a:r>
            <a:r>
              <a:rPr lang="it-IT" dirty="0"/>
              <a:t>: </a:t>
            </a:r>
            <a:r>
              <a:rPr lang="it-IT" i="1" dirty="0"/>
              <a:t>Forza elettrica dovuta ad un cilindro dielettrico posto in un campo uniforme</a:t>
            </a:r>
            <a:endParaRPr lang="it-IT" dirty="0"/>
          </a:p>
          <a:p>
            <a:pPr lvl="0"/>
            <a:r>
              <a:rPr lang="it-IT" b="1" dirty="0"/>
              <a:t>Nota D</a:t>
            </a:r>
            <a:r>
              <a:rPr lang="it-IT" dirty="0"/>
              <a:t>: </a:t>
            </a:r>
            <a:r>
              <a:rPr lang="it-IT" i="1" dirty="0"/>
              <a:t>Sulla riflessione e sulla rifrazione delle onde elettro-magnetiche</a:t>
            </a:r>
            <a:endParaRPr lang="it-IT" dirty="0"/>
          </a:p>
          <a:p>
            <a:pPr lvl="0"/>
            <a:r>
              <a:rPr lang="it-IT" b="1" dirty="0"/>
              <a:t>Nota E</a:t>
            </a:r>
            <a:r>
              <a:rPr lang="it-IT" dirty="0"/>
              <a:t>: </a:t>
            </a:r>
            <a:r>
              <a:rPr lang="it-IT" i="1" dirty="0"/>
              <a:t>Sulla riflessione metallica della luce polarizzata</a:t>
            </a:r>
            <a:endParaRPr lang="it-IT" dirty="0"/>
          </a:p>
          <a:p>
            <a:pPr lvl="0"/>
            <a:r>
              <a:rPr lang="it-IT" b="1" dirty="0"/>
              <a:t>Nota F</a:t>
            </a:r>
            <a:r>
              <a:rPr lang="it-IT" dirty="0"/>
              <a:t>: </a:t>
            </a:r>
            <a:r>
              <a:rPr lang="it-IT" i="1" dirty="0"/>
              <a:t>Sulle onde elettro-magnetiche a polarizzazione circolare od </a:t>
            </a:r>
            <a:r>
              <a:rPr lang="it-IT" i="1" dirty="0" err="1"/>
              <a:t>elittica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3659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0732-8207-7BCE-55E3-03855F73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14C5C1-AF3E-DB4B-09D8-B25C2451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1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9AD661-2E14-B111-D13E-0C6D9E6C6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57460"/>
            <a:ext cx="9603275" cy="3037053"/>
          </a:xfrm>
        </p:spPr>
        <p:txBody>
          <a:bodyPr>
            <a:normAutofit fontScale="92500" lnSpcReduction="10000"/>
          </a:bodyPr>
          <a:lstStyle/>
          <a:p>
            <a:r>
              <a:rPr lang="it-IT" b="1" dirty="0"/>
              <a:t>Spiegazione di che cos’è un oscillatore («</a:t>
            </a:r>
            <a:r>
              <a:rPr lang="it-IT" i="1" dirty="0"/>
              <a:t>Un eccitatore o oscillatore di Hertz può essere considerato come un sistema di due condensatori disposti a cariche conseguenti, ossia in cascata, che produce scariche oscillanti in un circuito rettilineo, e a cui una sorgente di elettricità fornisce continuamente nuove cariche.</a:t>
            </a:r>
            <a:r>
              <a:rPr lang="it-IT" b="1" dirty="0"/>
              <a:t>»)</a:t>
            </a:r>
          </a:p>
          <a:p>
            <a:r>
              <a:rPr lang="it-IT" b="1" dirty="0"/>
              <a:t>Configurazione a quattro sfere (configurazione di Righi, con olio di vaselina)</a:t>
            </a:r>
            <a:br>
              <a:rPr lang="it-IT" b="1" dirty="0"/>
            </a:br>
            <a:r>
              <a:rPr lang="it-IT" b="1" dirty="0"/>
              <a:t>	- sfere piene &gt; sfere cave</a:t>
            </a:r>
            <a:br>
              <a:rPr lang="it-IT" b="1" dirty="0"/>
            </a:br>
            <a:r>
              <a:rPr lang="it-IT" b="1" dirty="0"/>
              <a:t>	- olio di vaselina riduce le difficoltà di manutenzione</a:t>
            </a:r>
          </a:p>
          <a:p>
            <a:r>
              <a:rPr lang="it-IT" b="1" dirty="0"/>
              <a:t>Lunghezza d’onda diversa (Hertz 66 cm, contro 10.6 cm di Righi)</a:t>
            </a:r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9E929D4-3C52-8FCF-A0F1-8443ED217DC5}"/>
              </a:ext>
            </a:extLst>
          </p:cNvPr>
          <p:cNvSpPr txBox="1"/>
          <p:nvPr/>
        </p:nvSpPr>
        <p:spPr>
          <a:xfrm>
            <a:off x="1451578" y="5246853"/>
            <a:ext cx="9603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Nota: 1 cavallo a vapore =  1 </a:t>
            </a:r>
            <a:r>
              <a:rPr lang="it-IT" sz="2000" b="1" dirty="0" err="1"/>
              <a:t>horsepower</a:t>
            </a:r>
            <a:r>
              <a:rPr lang="it-IT" sz="2000" b="1" dirty="0"/>
              <a:t> ~ 735.5 W</a:t>
            </a:r>
          </a:p>
        </p:txBody>
      </p:sp>
    </p:spTree>
    <p:extLst>
      <p:ext uri="{BB962C8B-B14F-4D97-AF65-F5344CB8AC3E}">
        <p14:creationId xmlns:p14="http://schemas.microsoft.com/office/powerpoint/2010/main" val="1949163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87D808-07AE-8AA9-6842-4579F024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1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3E0657-AC18-CA67-C14B-D2274F39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2333840" cy="3450613"/>
          </a:xfrm>
        </p:spPr>
        <p:txBody>
          <a:bodyPr/>
          <a:lstStyle/>
          <a:p>
            <a:r>
              <a:rPr lang="it-IT" dirty="0"/>
              <a:t>Descrive la manifattura dei risonatori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3946292-C813-D231-8EC4-242C6D8D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462" y="2015732"/>
            <a:ext cx="5829905" cy="371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02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4BEBE2-646B-2ABB-7AB7-FAAC6A5C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1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0232EEF-9A69-4FEA-228D-0FA052441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48590" y="2018675"/>
            <a:ext cx="7209145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10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3F17B3-2D6C-9EF7-1099-26D5D194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1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70382D-42DF-21CE-CB3D-C8CCE33A3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b="1" dirty="0"/>
              <a:t>Il risonatore come analizzatore ottico </a:t>
            </a:r>
            <a:r>
              <a:rPr lang="it-IT" sz="2400" dirty="0"/>
              <a:t>(«</a:t>
            </a:r>
            <a:r>
              <a:rPr lang="it-IT" i="1" dirty="0"/>
              <a:t>Per mezzo del cerchio graduato OP ( </a:t>
            </a:r>
            <a:r>
              <a:rPr lang="it-IT" i="1" dirty="0" err="1"/>
              <a:t>fig</a:t>
            </a:r>
            <a:r>
              <a:rPr lang="it-IT" i="1" dirty="0"/>
              <a:t> . 9 ) annesso al risonatore, questo apparecchio si adopera press ' a poco come un analizzatore ottico.</a:t>
            </a:r>
            <a:r>
              <a:rPr lang="it-IT" sz="2400" dirty="0"/>
              <a:t>» pagina 49 del .pdf)</a:t>
            </a:r>
          </a:p>
          <a:p>
            <a:r>
              <a:rPr lang="it-IT" sz="2400" dirty="0"/>
              <a:t>Il capitolo si chiude evidenziando la grande portata degli apparati: l'Apparecchio II permette di osservare scintille distinte fino a </a:t>
            </a:r>
            <a:r>
              <a:rPr lang="it-IT" sz="2400" b="1" dirty="0"/>
              <a:t>20 metri di distanza</a:t>
            </a:r>
            <a:r>
              <a:rPr lang="it-IT" sz="2400" dirty="0"/>
              <a:t> dal risonatore (circa 190 lunghezze d'onda), mentre l'Apparecchio III supera i </a:t>
            </a:r>
            <a:r>
              <a:rPr lang="it-IT" sz="2400" b="1" dirty="0"/>
              <a:t>25 metri.</a:t>
            </a:r>
          </a:p>
          <a:p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3165537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7ABC86-16EC-1549-C2D1-F7AD18CB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35BC58-E8E7-47BE-74C5-B1AAE9E47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95211"/>
          </a:xfrm>
        </p:spPr>
        <p:txBody>
          <a:bodyPr>
            <a:normAutofit fontScale="85000" lnSpcReduction="20000"/>
          </a:bodyPr>
          <a:lstStyle/>
          <a:p>
            <a:r>
              <a:rPr lang="it-IT" sz="2100" dirty="0"/>
              <a:t>Righi spiega come utilizzare il risonatore come un vero e proprio analizzatore ottico</a:t>
            </a:r>
            <a:r>
              <a:rPr lang="it-IT" sz="2100" b="1" dirty="0"/>
              <a:t>:</a:t>
            </a:r>
          </a:p>
          <a:p>
            <a:pPr marL="457200" lvl="0" indent="-457200">
              <a:buFont typeface="+mj-lt"/>
              <a:buAutoNum type="arabicPeriod"/>
            </a:pPr>
            <a:r>
              <a:rPr lang="it-IT" sz="2100" b="1" dirty="0"/>
              <a:t>Azimut delle oscillazioni:</a:t>
            </a:r>
            <a:r>
              <a:rPr lang="it-IT" sz="2100" dirty="0"/>
              <a:t> ruotando il risonatore attorno al proprio asse orizzontale si individua il piano di polarizzazione per il quale la frequenza e la luminosità delle scintille diventano massime.</a:t>
            </a:r>
          </a:p>
          <a:p>
            <a:pPr marL="457200" lvl="0" indent="-457200">
              <a:buFont typeface="+mj-lt"/>
              <a:buAutoNum type="arabicPeriod"/>
            </a:pPr>
            <a:r>
              <a:rPr lang="it-IT" sz="2100" b="1" dirty="0"/>
              <a:t>Misura dell'intensità della radiazione:</a:t>
            </a:r>
            <a:r>
              <a:rPr lang="it-IT" sz="2100" dirty="0"/>
              <a:t> inclinando il risonatore fino a che le scintille non spariscono, il rapporto inverso dei coseni degli angoli determinati prima e dopo l'interposizione di un corpo fornisce il rapporto delle ampiezze d'onda.</a:t>
            </a:r>
          </a:p>
          <a:p>
            <a:pPr marL="457200" lvl="0" indent="-457200">
              <a:buFont typeface="+mj-lt"/>
              <a:buAutoNum type="arabicPeriod"/>
            </a:pPr>
            <a:r>
              <a:rPr lang="it-IT" sz="2100" b="1" dirty="0"/>
              <a:t>Deviazione dei raggi:</a:t>
            </a:r>
            <a:r>
              <a:rPr lang="it-IT" sz="2100" dirty="0"/>
              <a:t> permette di seguire la direzione delle radiazioni emergenti da prismi o lenti.</a:t>
            </a:r>
          </a:p>
          <a:p>
            <a:pPr marL="457200" lvl="0" indent="-457200">
              <a:buFont typeface="+mj-lt"/>
              <a:buAutoNum type="arabicPeriod"/>
            </a:pPr>
            <a:r>
              <a:rPr lang="it-IT" sz="2100" b="1" dirty="0"/>
              <a:t>Analisi di vibrazioni ellittiche o circolari</a:t>
            </a:r>
            <a:r>
              <a:rPr lang="it-IT" sz="2100" dirty="0"/>
              <a:t>: ruotando il risonatore nei vari azimut e cronometrando la frequenza delle scintille mediante un metronomo, è possibile stabilire se l'onda è a polarizzazione rettilinea, ellittica o circolare.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35440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3E8445-21EB-A1C9-7978-31DEC1D6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FE3D66-0521-3272-AB4C-A7B7E9CDB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51668"/>
          </a:xfrm>
        </p:spPr>
        <p:txBody>
          <a:bodyPr>
            <a:normAutofit fontScale="92500" lnSpcReduction="20000"/>
          </a:bodyPr>
          <a:lstStyle/>
          <a:p>
            <a:r>
              <a:rPr lang="it-IT" sz="2200" b="1" dirty="0"/>
              <a:t>Capitolo I – Fenomeni d’interferenza. </a:t>
            </a:r>
            <a:br>
              <a:rPr lang="it-IT" dirty="0"/>
            </a:br>
            <a:r>
              <a:rPr lang="it-IT" dirty="0"/>
              <a:t>Questo capitolo riproduce in laboratorio le storiche esperienze dell’ottica ondulatoria, adattandole alle onde elettromagnetiche.</a:t>
            </a:r>
          </a:p>
          <a:p>
            <a:pPr lvl="0"/>
            <a:r>
              <a:rPr lang="it-IT" dirty="0"/>
              <a:t>Onde stazionarie (§ 21): inviando le onde contro uno specchio metallico piano, la sovrapposizione dell’onda incidente e di quella riflessa crea un’onda stazionaria. Facendo scorrere il risonatore si individuano i ventri (massimo scintillio) e i nodi (estinzione delle scintille), permettendo di misurare direttamente la lunghezza d’onda λ.</a:t>
            </a:r>
          </a:p>
          <a:p>
            <a:pPr lvl="0"/>
            <a:r>
              <a:rPr lang="it-IT" dirty="0"/>
              <a:t>Specchi di Fresnel (§ 22-23) e </a:t>
            </a:r>
            <a:r>
              <a:rPr lang="it-IT" dirty="0" err="1"/>
              <a:t>biprisma</a:t>
            </a:r>
            <a:r>
              <a:rPr lang="it-IT" dirty="0"/>
              <a:t> (§ 26): ricreano le classiche disposizioni ottiche di Fresnel utilizzando due specchi metallici inclinati o un </a:t>
            </a:r>
            <a:r>
              <a:rPr lang="it-IT" dirty="0" err="1"/>
              <a:t>biprisma</a:t>
            </a:r>
            <a:r>
              <a:rPr lang="it-IT" dirty="0"/>
              <a:t> in paraffina o altro dielettrico, producendo frange d’interferenza osservabili con il risonatore.</a:t>
            </a:r>
          </a:p>
          <a:p>
            <a:pPr lvl="0"/>
            <a:r>
              <a:rPr lang="it-IT" dirty="0"/>
              <a:t>Determinazione degli indici di rifrazione (§ 24) e interferenza ad uno specchio (§ 25).</a:t>
            </a:r>
          </a:p>
        </p:txBody>
      </p:sp>
    </p:spTree>
    <p:extLst>
      <p:ext uri="{BB962C8B-B14F-4D97-AF65-F5344CB8AC3E}">
        <p14:creationId xmlns:p14="http://schemas.microsoft.com/office/powerpoint/2010/main" val="279165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19253-993C-FEB5-5D6A-44F36A8FE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1DAFF2-B63B-1A11-8E72-F5EA1D6B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B788CB-8902-2982-63F7-F9A66D86A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Capitolo II – Interferenze colle lamine sottili</a:t>
            </a:r>
          </a:p>
          <a:p>
            <a:r>
              <a:rPr lang="it-IT" dirty="0"/>
              <a:t>In questo capitolo Righi analizza l'interferenza prodotta dall'interposizione di </a:t>
            </a:r>
            <a:r>
              <a:rPr lang="it-IT" b="1" dirty="0"/>
              <a:t>lamine e lastre di vario spessore</a:t>
            </a:r>
            <a:r>
              <a:rPr lang="it-IT" dirty="0"/>
              <a:t> lungo la traiettoria delle onde. </a:t>
            </a:r>
            <a:br>
              <a:rPr lang="it-IT" dirty="0"/>
            </a:br>
            <a:r>
              <a:rPr lang="it-IT" dirty="0"/>
              <a:t>L'esperimento imita i fenomeni ottici delle pellicole sottili (come gli anelli di Newton), verificando come l'onda riflessa dalla prima superficie e quella riflessa dalla seconda superficie della lamina si sommino o si annullino a seconda dello spessore della lastra e della lunghezza d'onda</a:t>
            </a:r>
          </a:p>
        </p:txBody>
      </p:sp>
    </p:spTree>
    <p:extLst>
      <p:ext uri="{BB962C8B-B14F-4D97-AF65-F5344CB8AC3E}">
        <p14:creationId xmlns:p14="http://schemas.microsoft.com/office/powerpoint/2010/main" val="2135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C672-4FEB-1FC7-FFF2-4838CBF7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DA62A-24DB-121C-F5CE-F053B3B2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410F44-4D79-14EB-1206-DDB418C35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Capitolo III – Fenomeni di diffrazione</a:t>
            </a:r>
          </a:p>
          <a:p>
            <a:r>
              <a:rPr lang="it-IT" dirty="0"/>
              <a:t>Dedicato allo studio delle deviazioni subite dalle onde elettromagnetiche quando incontrano ostacoli o aperture:</a:t>
            </a:r>
          </a:p>
          <a:p>
            <a:pPr lvl="0"/>
            <a:r>
              <a:rPr lang="it-IT" b="1" dirty="0"/>
              <a:t>Diffrazione da ostacoli semplici</a:t>
            </a:r>
            <a:r>
              <a:rPr lang="it-IT" dirty="0"/>
              <a:t>: Viene esaminata la diffrazione attraverso diaframmi di Fresnel (§ 31), fenditure rettilinee (§ 32) e sfiorando l'orlo di corpi opachi (§ 33).</a:t>
            </a:r>
          </a:p>
          <a:p>
            <a:pPr lvl="0"/>
            <a:r>
              <a:rPr lang="it-IT" b="1" dirty="0"/>
              <a:t>Diffrazione da masse dielettriche (§ 34-35)</a:t>
            </a:r>
            <a:r>
              <a:rPr lang="it-IT" dirty="0"/>
              <a:t>: Vengono analizzate le figure diffrattive più complesse generate dall'interposizione di corpi isolanti di varia forma</a:t>
            </a:r>
          </a:p>
        </p:txBody>
      </p:sp>
    </p:spTree>
    <p:extLst>
      <p:ext uri="{BB962C8B-B14F-4D97-AF65-F5344CB8AC3E}">
        <p14:creationId xmlns:p14="http://schemas.microsoft.com/office/powerpoint/2010/main" val="408309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564C8-778D-4E3E-6EFB-C7E1683A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DDE90A-F09B-AD0E-C5CA-E6BD1FED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A0341E-3545-3212-D823-D101EF88D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Capitolo IV – Trasparenza ed opacità</a:t>
            </a:r>
            <a:br>
              <a:rPr lang="it-IT" b="1" dirty="0"/>
            </a:br>
            <a:r>
              <a:rPr lang="it-IT" dirty="0"/>
              <a:t>Tratta l'assorbimento subito dalle onde elettromagnetiche nel passaggio attraverso sostanze non metalliche:</a:t>
            </a:r>
          </a:p>
          <a:p>
            <a:pPr lvl="0"/>
            <a:r>
              <a:rPr lang="it-IT" dirty="0"/>
              <a:t>Righi dimostra che materiali come il </a:t>
            </a:r>
            <a:r>
              <a:rPr lang="it-IT" b="1" dirty="0"/>
              <a:t>legno</a:t>
            </a:r>
            <a:r>
              <a:rPr lang="it-IT" dirty="0"/>
              <a:t> o il </a:t>
            </a:r>
            <a:r>
              <a:rPr lang="it-IT" b="1" dirty="0"/>
              <a:t>vetro da specchi</a:t>
            </a:r>
            <a:r>
              <a:rPr lang="it-IT" dirty="0"/>
              <a:t> non sono perfettamente trasparenti per le onde elettromagnetiche brevi, ma esercitano un assorbimento misurabile che indebolisce l'ampiezza dell'onda trasmessa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25363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6A20-2720-1355-EA51-F4EE6BCA7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0C622D-96FB-AA19-70CE-15D0E6A1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055907-341E-1C35-F651-07BFCD216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Capitolo V – Riflessione sui dielettrici e sui conduttori</a:t>
            </a:r>
          </a:p>
          <a:p>
            <a:r>
              <a:rPr lang="it-IT" dirty="0"/>
              <a:t>Studia la riflessione delle onde elettromagnetiche su superfici isolanti (dielettrici) e metalliche (conduttori), sia isotrope sia anisotrope:</a:t>
            </a:r>
          </a:p>
          <a:p>
            <a:pPr lvl="0"/>
            <a:r>
              <a:rPr lang="it-IT" b="1" dirty="0"/>
              <a:t>Leggi della riflessione (§ 38-42)</a:t>
            </a:r>
            <a:r>
              <a:rPr lang="it-IT" dirty="0"/>
              <a:t>: Verifica sperimentale degli angoli di riflessione e delle variazioni d'intensità in base all'angolo d'incidenza e al piano di polarizzazione.</a:t>
            </a:r>
          </a:p>
          <a:p>
            <a:pPr lvl="0"/>
            <a:r>
              <a:rPr lang="it-IT" b="1" dirty="0"/>
              <a:t>Polarizzazione circolare ed ellittica per riflessione metallica (§ 43)</a:t>
            </a:r>
            <a:r>
              <a:rPr lang="it-IT" dirty="0"/>
              <a:t>: Righi descrive la prima realizzazione sperimentale in assoluto di onde elettromagnetiche a polarizzazione circolare ed ellittica ottenute mediante riflessione su lastre metalliche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113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B67E-FCF1-CAFF-2027-CB664DFC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449AA5-A535-F4DE-4A6B-514D49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B45FDB-C3DE-E484-105C-5FD18028C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1" dirty="0"/>
              <a:t>Capitolo VI – Rifrazione e riflessione totale</a:t>
            </a:r>
          </a:p>
          <a:p>
            <a:r>
              <a:rPr lang="it-IT" dirty="0"/>
              <a:t>Analizza i fenomeni di deviazione e polarizzazione per trasmissione</a:t>
            </a:r>
            <a:r>
              <a:rPr lang="it-IT" baseline="30000" dirty="0"/>
              <a:t>[1]</a:t>
            </a:r>
            <a:r>
              <a:rPr lang="it-IT" dirty="0"/>
              <a:t>:</a:t>
            </a:r>
          </a:p>
          <a:p>
            <a:pPr lvl="0"/>
            <a:r>
              <a:rPr lang="it-IT" b="1" dirty="0"/>
              <a:t>Prismi e lenti (§ 45)</a:t>
            </a:r>
            <a:r>
              <a:rPr lang="it-IT" dirty="0"/>
              <a:t>: Dimostrazione della rifrazione mediante prismi e concentrazione del fascio tramite lenti dielettriche.</a:t>
            </a:r>
          </a:p>
          <a:p>
            <a:pPr lvl="0"/>
            <a:r>
              <a:rPr lang="it-IT" b="1" dirty="0"/>
              <a:t>Polarizzazione per rifrazione (§ 46)</a:t>
            </a:r>
            <a:r>
              <a:rPr lang="it-IT" dirty="0"/>
              <a:t>: Ottenuta mediante una "pila di lastre" </a:t>
            </a:r>
            <a:r>
              <a:rPr lang="it-IT" dirty="0" err="1"/>
              <a:t>inclinatamente</a:t>
            </a:r>
            <a:r>
              <a:rPr lang="it-IT" dirty="0"/>
              <a:t> disposte.</a:t>
            </a:r>
          </a:p>
          <a:p>
            <a:pPr lvl="0"/>
            <a:r>
              <a:rPr lang="it-IT" b="1" dirty="0"/>
              <a:t>Riflessione totale e prismi speciali (§ 47-49)</a:t>
            </a:r>
            <a:r>
              <a:rPr lang="it-IT" dirty="0"/>
              <a:t>: Studio della riflessione totale all'interno di prismi e costruzione di prismi appositi per generare onde a polarizzazione circolare ed ellittica per riflessione totale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2213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F8D2D-6134-7B31-FAC5-D8E0FA5E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93F3DB-6989-EBD4-AE48-36D82F72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EB420F-8857-2D34-1DE2-DAB759FD7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196135" cy="4037750"/>
          </a:xfrm>
        </p:spPr>
        <p:txBody>
          <a:bodyPr>
            <a:normAutofit lnSpcReduction="10000"/>
          </a:bodyPr>
          <a:lstStyle/>
          <a:p>
            <a:r>
              <a:rPr lang="it-IT" b="1" dirty="0"/>
              <a:t>Capitolo VII – Doppia rifrazione</a:t>
            </a:r>
          </a:p>
          <a:p>
            <a:r>
              <a:rPr lang="it-IT" dirty="0"/>
              <a:t>Dedicato alla </a:t>
            </a:r>
            <a:r>
              <a:rPr lang="it-IT" b="1" dirty="0"/>
              <a:t>birifrangenza</a:t>
            </a:r>
            <a:r>
              <a:rPr lang="it-IT" dirty="0"/>
              <a:t> (doppia rifrazione) delle onde elettromagnetiche:</a:t>
            </a:r>
          </a:p>
          <a:p>
            <a:pPr lvl="0"/>
            <a:r>
              <a:rPr lang="it-IT" b="1" dirty="0"/>
              <a:t>Doppia rifrazione nel legno (§ 50)</a:t>
            </a:r>
            <a:r>
              <a:rPr lang="it-IT" dirty="0"/>
              <a:t>: Righi scoprì per primo che il legno d'abete (a causa della sua struttura a fibre orientate) si comporta come un mezzo birifrangente per le onde elettromagnetiche.</a:t>
            </a:r>
          </a:p>
          <a:p>
            <a:pPr lvl="0"/>
            <a:r>
              <a:rPr lang="it-IT" b="1" dirty="0"/>
              <a:t>Doppia rifrazione nei cristalli (§ 51-54)</a:t>
            </a:r>
            <a:r>
              <a:rPr lang="it-IT" dirty="0"/>
              <a:t>: Estensione dello studio ai cristalli naturali, in particolare alla </a:t>
            </a:r>
            <a:r>
              <a:rPr lang="it-IT" b="1" dirty="0"/>
              <a:t>selenite (gesso)</a:t>
            </a:r>
            <a:r>
              <a:rPr lang="it-IT" dirty="0"/>
              <a:t>, analizzando il ritardo di fase, la produzione di polarizzazione ellittica e la determinazione dell'ellissoide di polarizzazione.</a:t>
            </a:r>
          </a:p>
          <a:p>
            <a:pPr lvl="0"/>
            <a:r>
              <a:rPr lang="it-IT" b="1" dirty="0"/>
              <a:t>Esperienze con esito negativo (§ 55)</a:t>
            </a:r>
            <a:r>
              <a:rPr lang="it-IT" dirty="0"/>
              <a:t>: Documenta le sostanze e i cristalli nei quali il fenomeno non fu riscontrato</a:t>
            </a:r>
            <a:r>
              <a:rPr lang="it-IT" baseline="30000" dirty="0"/>
              <a:t>.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89082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04F9F7-9F46-EB68-C6E3-659F7F0A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28BB58-1B47-C47C-E0BF-B99F5F5A1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b="1" dirty="0"/>
              <a:t>Nota A –</a:t>
            </a:r>
            <a:r>
              <a:rPr lang="it-IT" dirty="0"/>
              <a:t> </a:t>
            </a:r>
            <a:r>
              <a:rPr lang="it-IT" b="1" dirty="0"/>
              <a:t>Sulle onde elettro-magnetiche generate da un piccolo oscillatore, e su quelle prodotte da due piccole oscillazioni elettriche ortogonali, oppure per mezzo di una rotazione uniforme</a:t>
            </a:r>
            <a:r>
              <a:rPr lang="it-IT" dirty="0"/>
              <a:t> </a:t>
            </a:r>
          </a:p>
          <a:p>
            <a:pPr lvl="0"/>
            <a:r>
              <a:rPr lang="it-IT" b="1" dirty="0"/>
              <a:t>Contenuto</a:t>
            </a:r>
            <a:r>
              <a:rPr lang="it-IT" dirty="0"/>
              <a:t>: Riprende la teoria matematica di Hertz sull'oscillatore elementare (doppietto elettrico) e la estende al caso di due oscillazioni elettriche ortogonali</a:t>
            </a:r>
            <a:r>
              <a:rPr lang="it-IT" baseline="30000" dirty="0"/>
              <a:t>[1]</a:t>
            </a:r>
            <a:r>
              <a:rPr lang="it-IT" dirty="0"/>
              <a:t>.</a:t>
            </a:r>
          </a:p>
          <a:p>
            <a:pPr lvl="0"/>
            <a:r>
              <a:rPr lang="it-IT" b="1" dirty="0"/>
              <a:t>Innovazione teorica</a:t>
            </a:r>
            <a:r>
              <a:rPr lang="it-IT" dirty="0"/>
              <a:t>: Modella i cosiddetti "oscillatori meccanici", ovvero il campo generato dalla rotazione uniforme di un elemento elettrico o magnetico attorno a un centro, dimostrando che esso produce un sistema di onde elettromagnetiche analogo a quello di un oscillatore ordinario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07258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E013A-D04A-7A04-0659-58E220908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FACDCF-F6F5-6369-9CAA-F1D0B3B4F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F82246-6703-104C-E183-36BCFA804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Nota B –</a:t>
            </a:r>
            <a:r>
              <a:rPr lang="it-IT" dirty="0"/>
              <a:t> </a:t>
            </a:r>
            <a:r>
              <a:rPr lang="it-IT" b="1" dirty="0"/>
              <a:t>Forza elettrica dovuta ad una sfera dielettrica posta in un campo uniforme</a:t>
            </a:r>
            <a:r>
              <a:rPr lang="it-IT" dirty="0"/>
              <a:t> (pag. 217)</a:t>
            </a:r>
          </a:p>
          <a:p>
            <a:pPr lvl="0"/>
            <a:r>
              <a:rPr lang="it-IT" b="1" dirty="0"/>
              <a:t>Contenuto</a:t>
            </a:r>
            <a:r>
              <a:rPr lang="it-IT" dirty="0"/>
              <a:t>: Sviluppa il calcolo analitico delle forze elettriche e della distribuzione di campo quando un corpo isolante sferico viene immerso in un campo elettrico uniforme.</a:t>
            </a:r>
          </a:p>
          <a:p>
            <a:pPr lvl="0"/>
            <a:r>
              <a:rPr lang="it-IT" b="1" dirty="0"/>
              <a:t>Applicazione</a:t>
            </a:r>
            <a:r>
              <a:rPr lang="it-IT" dirty="0"/>
              <a:t>: Fornisce la giustificazione teorica per gli esperimenti sulle onde secondarie emesse dalle sfere dielettriche colpite dalla radiazione</a:t>
            </a:r>
          </a:p>
        </p:txBody>
      </p:sp>
    </p:spTree>
    <p:extLst>
      <p:ext uri="{BB962C8B-B14F-4D97-AF65-F5344CB8AC3E}">
        <p14:creationId xmlns:p14="http://schemas.microsoft.com/office/powerpoint/2010/main" val="2274514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67FC-2FAC-BAF0-CC71-1731854A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BF7A72-3AC0-CC74-1834-5C4AD29C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B55A34-36C4-E592-5513-F95A26BCB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Nota C –</a:t>
            </a:r>
            <a:r>
              <a:rPr lang="it-IT" dirty="0"/>
              <a:t> </a:t>
            </a:r>
            <a:r>
              <a:rPr lang="it-IT" b="1" dirty="0"/>
              <a:t>Forza elettrica dovuta ad un cilindro dielettrico posto in un campo uniforme</a:t>
            </a:r>
            <a:endParaRPr lang="it-IT" dirty="0"/>
          </a:p>
          <a:p>
            <a:pPr lvl="0"/>
            <a:r>
              <a:rPr lang="it-IT" b="1" dirty="0"/>
              <a:t>Contenuto</a:t>
            </a:r>
            <a:r>
              <a:rPr lang="it-IT" dirty="0"/>
              <a:t>: Estende la trattazione analitica della Nota B al caso geometrico di un cilindro dielettrico immerso in un campo elettrico uniforme.</a:t>
            </a:r>
          </a:p>
          <a:p>
            <a:pPr lvl="0"/>
            <a:r>
              <a:rPr lang="it-IT" b="1" dirty="0"/>
              <a:t>Applicazione</a:t>
            </a:r>
            <a:r>
              <a:rPr lang="it-IT" dirty="0"/>
              <a:t>: Spiega matematicamente come la forma cilindrica dell'isolante alteri le linee di forza elettrica generando radiazione secondaria.</a:t>
            </a:r>
          </a:p>
        </p:txBody>
      </p:sp>
    </p:spTree>
    <p:extLst>
      <p:ext uri="{BB962C8B-B14F-4D97-AF65-F5344CB8AC3E}">
        <p14:creationId xmlns:p14="http://schemas.microsoft.com/office/powerpoint/2010/main" val="926464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1179D-50C9-AD5A-40D3-93666D54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5AA28C-9134-06B0-F161-85AAC4100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6D8859-CBA6-6E07-4ECA-40D0F2ECC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Nota D –</a:t>
            </a:r>
            <a:r>
              <a:rPr lang="it-IT" dirty="0"/>
              <a:t> </a:t>
            </a:r>
            <a:r>
              <a:rPr lang="it-IT" b="1" dirty="0"/>
              <a:t>Sulla riflessione e sulla rifrazione delle onde elettro-magnetiche</a:t>
            </a:r>
            <a:endParaRPr lang="it-IT" dirty="0"/>
          </a:p>
          <a:p>
            <a:pPr lvl="0"/>
            <a:r>
              <a:rPr lang="it-IT" b="1" dirty="0"/>
              <a:t>Contenuto</a:t>
            </a:r>
            <a:r>
              <a:rPr lang="it-IT" dirty="0"/>
              <a:t>: Ricava direttamente dalle equazioni differenziali fondamentali di Hertz e Maxwell le leggi e le formule analitiche della riflessione e della rifrazione.</a:t>
            </a:r>
          </a:p>
          <a:p>
            <a:pPr lvl="0"/>
            <a:r>
              <a:rPr lang="it-IT" b="1" dirty="0"/>
              <a:t>Significato</a:t>
            </a:r>
            <a:r>
              <a:rPr lang="it-IT" dirty="0"/>
              <a:t>: Dimostra che le equazioni dell'elettromagnetismo conducono esattamente alle medesime formule dell'ottica classica (equazioni di Fresnel).</a:t>
            </a:r>
          </a:p>
        </p:txBody>
      </p:sp>
    </p:spTree>
    <p:extLst>
      <p:ext uri="{BB962C8B-B14F-4D97-AF65-F5344CB8AC3E}">
        <p14:creationId xmlns:p14="http://schemas.microsoft.com/office/powerpoint/2010/main" val="1840846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708A-590C-04B9-BB6B-7149474A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EF46AC-F9A0-05F7-DBAA-695822F5F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088A22-7C24-4B80-6110-EF4AB6CE3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Nota E –</a:t>
            </a:r>
            <a:r>
              <a:rPr lang="it-IT" dirty="0"/>
              <a:t> </a:t>
            </a:r>
            <a:r>
              <a:rPr lang="it-IT" b="1" dirty="0"/>
              <a:t>Sulla riflessione metallica della luce polarizzata</a:t>
            </a:r>
            <a:r>
              <a:rPr lang="it-IT" dirty="0"/>
              <a:t> (pag. 238)</a:t>
            </a:r>
          </a:p>
          <a:p>
            <a:pPr lvl="0"/>
            <a:r>
              <a:rPr lang="it-IT" b="1" dirty="0"/>
              <a:t>Contenuto</a:t>
            </a:r>
            <a:r>
              <a:rPr lang="it-IT" dirty="0"/>
              <a:t>: Dimostra le proprietà matematiche della riflessione su specchi conduttori/metallici. </a:t>
            </a:r>
          </a:p>
          <a:p>
            <a:pPr lvl="0"/>
            <a:r>
              <a:rPr lang="it-IT" dirty="0"/>
              <a:t>Sviluppa l'equazione della traiettoria ellittica descritta dall'onda riflessa, calcolando la variazione dell'angolo di azimut e il rapporto tra gli assi dell'ellisse</a:t>
            </a:r>
          </a:p>
        </p:txBody>
      </p:sp>
    </p:spTree>
    <p:extLst>
      <p:ext uri="{BB962C8B-B14F-4D97-AF65-F5344CB8AC3E}">
        <p14:creationId xmlns:p14="http://schemas.microsoft.com/office/powerpoint/2010/main" val="4068128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8AAE4-1B36-7FA4-DB07-3AA9276C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BDA908-9446-AC2B-6E4C-3979D7BE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C2573E-C12D-B981-D4ED-5B60929AF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Nota F –</a:t>
            </a:r>
            <a:r>
              <a:rPr lang="it-IT" dirty="0"/>
              <a:t> </a:t>
            </a:r>
            <a:r>
              <a:rPr lang="it-IT" b="1" dirty="0"/>
              <a:t>Sulle onde elettro-magnetiche a polarizzazione circolare od </a:t>
            </a:r>
            <a:r>
              <a:rPr lang="it-IT" b="1" dirty="0" err="1"/>
              <a:t>elittica</a:t>
            </a:r>
            <a:endParaRPr lang="it-IT" dirty="0"/>
          </a:p>
          <a:p>
            <a:pPr lvl="0"/>
            <a:r>
              <a:rPr lang="it-IT" b="1" dirty="0"/>
              <a:t>Contenuto</a:t>
            </a:r>
            <a:r>
              <a:rPr lang="it-IT" dirty="0"/>
              <a:t>: Offre una rappresentazione geometrico-spaziale delle onde a polarizzazione circolare ed ellittica.</a:t>
            </a:r>
          </a:p>
          <a:p>
            <a:pPr lvl="0"/>
            <a:r>
              <a:rPr lang="it-IT" b="1" dirty="0"/>
              <a:t>Modello dell'elica</a:t>
            </a:r>
            <a:r>
              <a:rPr lang="it-IT" dirty="0"/>
              <a:t>: Spiega che nel dielettrico le punte dei vettori forza elettrica e forza magnetica descrivono nello spazio un'</a:t>
            </a:r>
            <a:r>
              <a:rPr lang="it-IT" b="1" dirty="0"/>
              <a:t>elica</a:t>
            </a:r>
            <a:r>
              <a:rPr lang="it-IT" dirty="0"/>
              <a:t> (campo ruotante) che trasla alla velocità della luce lungo la direzione di propagazione</a:t>
            </a:r>
          </a:p>
        </p:txBody>
      </p:sp>
    </p:spTree>
    <p:extLst>
      <p:ext uri="{BB962C8B-B14F-4D97-AF65-F5344CB8AC3E}">
        <p14:creationId xmlns:p14="http://schemas.microsoft.com/office/powerpoint/2010/main" val="2325972975"/>
      </p:ext>
    </p:extLst>
  </p:cSld>
  <p:clrMapOvr>
    <a:masterClrMapping/>
  </p:clrMapOvr>
</p:sld>
</file>

<file path=ppt/theme/theme1.xml><?xml version="1.0" encoding="utf-8"?>
<a:theme xmlns:a="http://schemas.openxmlformats.org/drawingml/2006/main" name="Raccolt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{BF920E4D-5A54-4EC3-A33F-279CB6F7C61D}TFc986dd65-aaf0-4d5c-bef9-9c391ee05f7b3c86cff7-420ca6d5453b</Template>
  <TotalTime>313</TotalTime>
  <Words>1890</Words>
  <Application>Microsoft Office PowerPoint</Application>
  <PresentationFormat>Widescreen</PresentationFormat>
  <Paragraphs>122</Paragraphs>
  <Slides>21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5" baseType="lpstr">
      <vt:lpstr>Arial</vt:lpstr>
      <vt:lpstr>Calibri</vt:lpstr>
      <vt:lpstr>Gill Sans MT</vt:lpstr>
      <vt:lpstr>Raccolta</vt:lpstr>
      <vt:lpstr>L’ottica delle oscillazioni elettriche</vt:lpstr>
      <vt:lpstr>Introduzione</vt:lpstr>
      <vt:lpstr>Introduzione</vt:lpstr>
      <vt:lpstr>Parte 1 </vt:lpstr>
      <vt:lpstr>Parte 1 </vt:lpstr>
      <vt:lpstr>Parte 1</vt:lpstr>
      <vt:lpstr>Parte 1 </vt:lpstr>
      <vt:lpstr>Parte 1</vt:lpstr>
      <vt:lpstr>Parte 2</vt:lpstr>
      <vt:lpstr>Parte 2</vt:lpstr>
      <vt:lpstr>Parte 2</vt:lpstr>
      <vt:lpstr>Parte 2</vt:lpstr>
      <vt:lpstr>Parte 2</vt:lpstr>
      <vt:lpstr>Parte 2</vt:lpstr>
      <vt:lpstr>Parte 2</vt:lpstr>
      <vt:lpstr>Note</vt:lpstr>
      <vt:lpstr>Note</vt:lpstr>
      <vt:lpstr>Note</vt:lpstr>
      <vt:lpstr>Note</vt:lpstr>
      <vt:lpstr>Note</vt:lpstr>
      <vt:lpstr>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 Leonard Fortesque</dc:creator>
  <cp:lastModifiedBy>Sir Leonard Fortesque</cp:lastModifiedBy>
  <cp:revision>15</cp:revision>
  <dcterms:created xsi:type="dcterms:W3CDTF">2026-10-08T13:29:52Z</dcterms:created>
  <dcterms:modified xsi:type="dcterms:W3CDTF">2026-10-09T08:38:55Z</dcterms:modified>
</cp:coreProperties>
</file>